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9" r:id="rId4"/>
    <p:sldId id="259" r:id="rId5"/>
    <p:sldId id="260" r:id="rId6"/>
    <p:sldId id="267" r:id="rId7"/>
    <p:sldId id="258" r:id="rId8"/>
    <p:sldId id="262" r:id="rId9"/>
    <p:sldId id="270" r:id="rId10"/>
    <p:sldId id="265" r:id="rId11"/>
    <p:sldId id="266" r:id="rId12"/>
    <p:sldId id="268" r:id="rId13"/>
  </p:sldIdLst>
  <p:sldSz cx="12192000" cy="6858000"/>
  <p:notesSz cx="6858000" cy="9144000"/>
  <p:embeddedFontLst>
    <p:embeddedFont>
      <p:font typeface="Azeret Mono" panose="020B0604020202020204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Urbanist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DBA6C6-FA79-4AF8-B8F0-9C6FDFCA7361}">
  <a:tblStyle styleId="{2ADBA6C6-FA79-4AF8-B8F0-9C6FDFCA73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0" d="100"/>
          <a:sy n="90" d="100"/>
        </p:scale>
        <p:origin x="43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5903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897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2326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-654756" y="662160"/>
            <a:ext cx="12666134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Red Team  vs Blue Team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2657079"/>
            <a:ext cx="7620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Sécurisation</a:t>
            </a:r>
            <a:r>
              <a:rPr lang="en-US" sz="36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36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l'Infrastructure</a:t>
            </a:r>
            <a:r>
              <a:rPr lang="en-US" sz="36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CyberMed</a:t>
            </a:r>
            <a:endParaRPr sz="360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008840" y="4944369"/>
            <a:ext cx="7083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8BDF8"/>
                </a:solidFill>
                <a:latin typeface="Azeret Mono"/>
                <a:cs typeface="Azeret Mono"/>
                <a:sym typeface="Azeret Mono"/>
              </a:rPr>
              <a:t>Réalisé par: </a:t>
            </a:r>
            <a:r>
              <a:rPr lang="en-US" sz="1500" dirty="0" err="1">
                <a:solidFill>
                  <a:srgbClr val="38BDF8"/>
                </a:solidFill>
                <a:latin typeface="Azeret Mono"/>
                <a:cs typeface="Azeret Mono"/>
                <a:sym typeface="Azeret Mono"/>
              </a:rPr>
              <a:t>Ibrahim,Abdoul,Christine,Alexis</a:t>
            </a:r>
            <a:r>
              <a:rPr lang="en-US" sz="1500" dirty="0">
                <a:solidFill>
                  <a:srgbClr val="38BDF8"/>
                </a:solidFill>
                <a:latin typeface="Azeret Mono"/>
                <a:cs typeface="Azeret Mono"/>
                <a:sym typeface="Azeret Mono"/>
              </a:rPr>
              <a:t> et Teddy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5728" y="1631929"/>
            <a:ext cx="4760522" cy="2690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5728" y="1628775"/>
            <a:ext cx="4760522" cy="26717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CONTEXTE : PME CYBERMED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700F59A-C887-44F9-A4DE-42F878B77A9B}"/>
              </a:ext>
            </a:extLst>
          </p:cNvPr>
          <p:cNvSpPr txBox="1"/>
          <p:nvPr/>
        </p:nvSpPr>
        <p:spPr>
          <a:xfrm>
            <a:off x="285750" y="1299031"/>
            <a:ext cx="65742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fr-FR" b="0" dirty="0">
                <a:effectLst/>
              </a:rPr>
            </a:br>
            <a:r>
              <a:rPr lang="fr-FR" sz="3200" b="1" i="0" u="none" strike="noStrike" dirty="0">
                <a:solidFill>
                  <a:srgbClr val="00F0FF"/>
                </a:solidFill>
                <a:effectLst/>
                <a:latin typeface="Urbanist" panose="020B0604020202020204" charset="0"/>
              </a:rPr>
              <a:t>PÉRIMÈTRE DE SURVEILLANCE</a:t>
            </a:r>
            <a:endParaRPr lang="fr-FR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fr-FR" b="0" dirty="0">
                <a:effectLst/>
              </a:rPr>
            </a:br>
            <a:r>
              <a:rPr lang="fr-FR" sz="2000" b="1" i="0" u="none" strike="noStrike" dirty="0">
                <a:solidFill>
                  <a:srgbClr val="F8FAFC"/>
                </a:solidFill>
                <a:effectLst/>
                <a:latin typeface="Urbanist" panose="020B0604020202020204" charset="0"/>
              </a:rPr>
              <a:t>Infrastructure </a:t>
            </a:r>
            <a:r>
              <a:rPr lang="fr-FR" sz="2000" b="1" i="0" u="none" strike="noStrike" dirty="0" err="1">
                <a:solidFill>
                  <a:srgbClr val="F8FAFC"/>
                </a:solidFill>
                <a:effectLst/>
                <a:latin typeface="Urbanist" panose="020B0604020202020204" charset="0"/>
              </a:rPr>
              <a:t>CyberMed</a:t>
            </a:r>
            <a:endParaRPr lang="fr-FR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fr-FR" b="0" dirty="0">
                <a:effectLst/>
              </a:rPr>
            </a:br>
            <a:r>
              <a:rPr lang="fr-FR" sz="1400" b="0" i="0" u="none" strike="noStrike" dirty="0">
                <a:solidFill>
                  <a:srgbClr val="94A3B8"/>
                </a:solidFill>
                <a:effectLst/>
                <a:latin typeface="Urbanist" panose="020B0604020202020204" charset="0"/>
              </a:rPr>
              <a:t>En tant que PME du secteur critique de la santé, le périmètre intègre des services Web et des bases de données sensibles qui stockent des informations médicales.</a:t>
            </a:r>
            <a:endParaRPr lang="fr-FR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fr-FR" b="0" dirty="0">
                <a:effectLst/>
              </a:rPr>
            </a:br>
            <a:r>
              <a:rPr lang="fr-FR" sz="1400" b="0" i="0" u="none" strike="noStrike" dirty="0">
                <a:solidFill>
                  <a:srgbClr val="94A3B8"/>
                </a:solidFill>
                <a:effectLst/>
                <a:latin typeface="Urbanist" panose="020B0604020202020204" charset="0"/>
              </a:rPr>
              <a:t>Services surveillés : </a:t>
            </a:r>
            <a:r>
              <a:rPr lang="fr-FR" sz="1400" b="1" i="0" u="none" strike="noStrike" dirty="0">
                <a:solidFill>
                  <a:srgbClr val="00F0FF"/>
                </a:solidFill>
                <a:effectLst/>
                <a:latin typeface="Urbanist" panose="020B0604020202020204" charset="0"/>
              </a:rPr>
              <a:t>Joomla 4</a:t>
            </a:r>
            <a:r>
              <a:rPr lang="fr-FR" sz="1400" b="0" i="0" u="none" strike="noStrike" dirty="0">
                <a:solidFill>
                  <a:srgbClr val="94A3B8"/>
                </a:solidFill>
                <a:effectLst/>
                <a:latin typeface="Urbanist" panose="020B0604020202020204" charset="0"/>
              </a:rPr>
              <a:t>, </a:t>
            </a:r>
            <a:r>
              <a:rPr lang="fr-FR" sz="1400" b="1" i="0" u="none" strike="noStrike" dirty="0">
                <a:solidFill>
                  <a:srgbClr val="00F0FF"/>
                </a:solidFill>
                <a:effectLst/>
                <a:latin typeface="Urbanist" panose="020B0604020202020204" charset="0"/>
              </a:rPr>
              <a:t>Tomcat 8</a:t>
            </a:r>
            <a:r>
              <a:rPr lang="fr-FR" sz="1400" b="0" i="0" u="none" strike="noStrike" dirty="0">
                <a:solidFill>
                  <a:srgbClr val="94A3B8"/>
                </a:solidFill>
                <a:effectLst/>
                <a:latin typeface="Urbanist" panose="020B0604020202020204" charset="0"/>
              </a:rPr>
              <a:t> &amp; </a:t>
            </a:r>
            <a:r>
              <a:rPr lang="fr-FR" sz="1400" b="1" i="0" u="none" strike="noStrike" dirty="0" err="1">
                <a:solidFill>
                  <a:srgbClr val="00F0FF"/>
                </a:solidFill>
                <a:effectLst/>
                <a:latin typeface="Urbanist" panose="020B0604020202020204" charset="0"/>
              </a:rPr>
              <a:t>Postgres</a:t>
            </a:r>
            <a:r>
              <a:rPr lang="fr-FR" sz="1400" b="0" i="0" u="none" strike="noStrike" dirty="0">
                <a:solidFill>
                  <a:srgbClr val="94A3B8"/>
                </a:solidFill>
                <a:effectLst/>
                <a:latin typeface="Urbanist" panose="020B0604020202020204" charset="0"/>
              </a:rPr>
              <a:t>.</a:t>
            </a:r>
            <a:endParaRPr lang="fr-FR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fr-FR" b="0" dirty="0">
                <a:effectLst/>
              </a:rPr>
            </a:br>
            <a:r>
              <a:rPr lang="fr-FR" sz="1400" b="0" i="0" u="none" strike="noStrike" dirty="0">
                <a:solidFill>
                  <a:srgbClr val="94A3B8"/>
                </a:solidFill>
                <a:effectLst/>
                <a:latin typeface="Urbanist" panose="020B0604020202020204" charset="0"/>
              </a:rPr>
              <a:t>IDS </a:t>
            </a:r>
            <a:r>
              <a:rPr lang="fr-FR" sz="1400" b="1" i="0" u="none" strike="noStrike" dirty="0" err="1">
                <a:solidFill>
                  <a:srgbClr val="00F0FF"/>
                </a:solidFill>
                <a:effectLst/>
                <a:latin typeface="Urbanist" panose="020B0604020202020204" charset="0"/>
              </a:rPr>
              <a:t>Suricata</a:t>
            </a:r>
            <a:r>
              <a:rPr lang="fr-FR" sz="1400" b="0" i="0" u="none" strike="noStrike" dirty="0">
                <a:solidFill>
                  <a:srgbClr val="94A3B8"/>
                </a:solidFill>
                <a:effectLst/>
                <a:latin typeface="Urbanist" panose="020B0604020202020204" charset="0"/>
              </a:rPr>
              <a:t> configuré pour la capture en coupure.</a:t>
            </a:r>
            <a:endParaRPr lang="fr-FR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fr-FR" b="0" dirty="0">
                <a:effectLst/>
              </a:rPr>
            </a:br>
            <a:r>
              <a:rPr lang="fr-FR" sz="1400" b="0" i="0" u="none" strike="noStrike" dirty="0">
                <a:solidFill>
                  <a:srgbClr val="94A3B8"/>
                </a:solidFill>
                <a:effectLst/>
                <a:latin typeface="Urbanist" panose="020B0604020202020204" charset="0"/>
              </a:rPr>
              <a:t>Centralisation des télémétries et logs sur le SIEM </a:t>
            </a:r>
            <a:r>
              <a:rPr lang="fr-FR" sz="1400" b="1" i="0" u="none" strike="noStrike" dirty="0">
                <a:solidFill>
                  <a:srgbClr val="00F0FF"/>
                </a:solidFill>
                <a:effectLst/>
                <a:latin typeface="Urbanist" panose="020B0604020202020204" charset="0"/>
              </a:rPr>
              <a:t>ELK</a:t>
            </a:r>
            <a:r>
              <a:rPr lang="fr-FR" sz="1400" b="0" i="0" u="none" strike="noStrike" dirty="0">
                <a:solidFill>
                  <a:srgbClr val="94A3B8"/>
                </a:solidFill>
                <a:effectLst/>
                <a:latin typeface="Urbanist" panose="020B0604020202020204" charset="0"/>
              </a:rPr>
              <a:t>.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/>
        </p:nvSpPr>
        <p:spPr>
          <a:xfrm>
            <a:off x="3457015" y="2642371"/>
            <a:ext cx="5603858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RED TEAM </a:t>
            </a:r>
            <a:endParaRPr sz="7200" dirty="0"/>
          </a:p>
        </p:txBody>
      </p:sp>
      <p:sp>
        <p:nvSpPr>
          <p:cNvPr id="261" name="Google Shape;261;p24"/>
          <p:cNvSpPr txBox="1"/>
          <p:nvPr/>
        </p:nvSpPr>
        <p:spPr>
          <a:xfrm>
            <a:off x="3562350" y="2907059"/>
            <a:ext cx="50673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24"/>
          <p:cNvSpPr txBox="1"/>
          <p:nvPr/>
        </p:nvSpPr>
        <p:spPr>
          <a:xfrm>
            <a:off x="4043362" y="4697610"/>
            <a:ext cx="15525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3036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chemeClr val="accent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Detection des Scans &amp; Reconnaissance</a:t>
            </a:r>
            <a:endParaRPr sz="3150" b="1" dirty="0">
              <a:solidFill>
                <a:schemeClr val="accent5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0627196-8943-4F16-A240-E1A0963B680B}"/>
              </a:ext>
            </a:extLst>
          </p:cNvPr>
          <p:cNvSpPr txBox="1"/>
          <p:nvPr/>
        </p:nvSpPr>
        <p:spPr>
          <a:xfrm>
            <a:off x="619125" y="1921352"/>
            <a:ext cx="10040235" cy="1745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La Red Team  a </a:t>
            </a:r>
            <a:r>
              <a:rPr lang="en-US" sz="2500" dirty="0" err="1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lancé</a:t>
            </a: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un balayage </a:t>
            </a:r>
            <a:r>
              <a:rPr lang="en-US" sz="2500" dirty="0" err="1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agressif</a:t>
            </a: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et </a:t>
            </a:r>
            <a:r>
              <a:rPr lang="en-US" sz="2500" dirty="0" err="1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exhaustif</a:t>
            </a: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de </a:t>
            </a:r>
            <a:r>
              <a:rPr lang="en-US" sz="2500" dirty="0" err="1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l'intégralité</a:t>
            </a: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des ports TCP (option Nmap </a:t>
            </a:r>
            <a:r>
              <a:rPr lang="en-US" sz="2500" dirty="0">
                <a:solidFill>
                  <a:srgbClr val="D7E5D8"/>
                </a:solidFill>
                <a:highlight>
                  <a:srgbClr val="222D32"/>
                </a:highlight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-p-</a:t>
            </a: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).</a:t>
            </a:r>
            <a:endParaRPr lang="en-US" sz="25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342900" indent="-342900" algn="l">
              <a:lnSpc>
                <a:spcPct val="109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Tentative de capture de </a:t>
            </a:r>
            <a:r>
              <a:rPr lang="en-US" sz="2500" dirty="0" err="1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bannières</a:t>
            </a: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et de </a:t>
            </a:r>
            <a:r>
              <a:rPr lang="en-US" sz="2500" dirty="0" err="1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détection</a:t>
            </a: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de </a:t>
            </a:r>
            <a:r>
              <a:rPr lang="en-US" sz="2500" dirty="0" err="1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l'OS</a:t>
            </a: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(Noyau Linux 4.15 - 5.19).</a:t>
            </a:r>
            <a:endParaRPr lang="en-US" sz="25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chemeClr val="accent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Exploitation </a:t>
            </a:r>
            <a:r>
              <a:rPr lang="en-US" sz="3150" b="1" dirty="0" err="1">
                <a:solidFill>
                  <a:schemeClr val="accent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d'ELK</a:t>
            </a:r>
            <a:r>
              <a:rPr lang="en-US" sz="3150" b="1" dirty="0">
                <a:solidFill>
                  <a:schemeClr val="accent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&amp; Audit SSH</a:t>
            </a:r>
            <a:endParaRPr lang="fr-FR" sz="3150" b="1" dirty="0">
              <a:solidFill>
                <a:schemeClr val="accent5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C663BAD-F6B9-4A63-9EDC-B5361212A92B}"/>
              </a:ext>
            </a:extLst>
          </p:cNvPr>
          <p:cNvSpPr/>
          <p:nvPr/>
        </p:nvSpPr>
        <p:spPr>
          <a:xfrm>
            <a:off x="294101" y="1253544"/>
            <a:ext cx="8151763" cy="3754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La Red Team  a constaté et exploité une </a:t>
            </a:r>
            <a:r>
              <a:rPr lang="en-US" sz="2500" b="1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absence totale d'authentification</a:t>
            </a: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.</a:t>
            </a:r>
            <a:endParaRPr lang="en-US" sz="25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342900" indent="-342900" algn="l">
              <a:lnSpc>
                <a:spcPct val="128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2500" dirty="0" err="1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Accès</a:t>
            </a:r>
            <a:r>
              <a:rPr lang="en-US" sz="2500" dirty="0">
                <a:solidFill>
                  <a:srgbClr val="D7E5D8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libre à l'interface graphique Kibana (Dev Tools et Overview).</a:t>
            </a:r>
            <a:endParaRPr lang="en-US" sz="25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/>
        </p:nvSpPr>
        <p:spPr>
          <a:xfrm>
            <a:off x="3457015" y="2642371"/>
            <a:ext cx="5603858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BLUE TEAM</a:t>
            </a:r>
            <a:endParaRPr sz="7200" dirty="0"/>
          </a:p>
        </p:txBody>
      </p:sp>
      <p:sp>
        <p:nvSpPr>
          <p:cNvPr id="261" name="Google Shape;261;p24"/>
          <p:cNvSpPr txBox="1"/>
          <p:nvPr/>
        </p:nvSpPr>
        <p:spPr>
          <a:xfrm>
            <a:off x="3562350" y="2907059"/>
            <a:ext cx="50673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2" name="Google Shape;262;p24"/>
          <p:cNvSpPr txBox="1"/>
          <p:nvPr/>
        </p:nvSpPr>
        <p:spPr>
          <a:xfrm>
            <a:off x="4043361" y="4403365"/>
            <a:ext cx="15525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24"/>
          <p:cNvSpPr txBox="1"/>
          <p:nvPr/>
        </p:nvSpPr>
        <p:spPr>
          <a:xfrm>
            <a:off x="4043362" y="4697610"/>
            <a:ext cx="15525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7425"/>
            <a:ext cx="349254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47073" y="2205038"/>
            <a:ext cx="3492549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94225" y="32956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ELK Stack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7623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SIEM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centralisé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pour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l'ingestion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des logs (Elasticsearch), le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filtrage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(Logstash) et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visualisation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(Kibana).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7671982" y="3214593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Suricata IDS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7744533" y="358164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Détection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d'intrusion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réseau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temps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réel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avec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analyse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 flux HTTP, DNS et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alertes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basées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sur signatures.</a:t>
            </a:r>
            <a:endParaRPr dirty="0"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9100" y="2590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38357" y="245590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STACK DE DÉFENSE DÉPLOYÉE</a:t>
            </a:r>
            <a:endParaRPr dirty="0"/>
          </a:p>
        </p:txBody>
      </p:sp>
      <p:sp>
        <p:nvSpPr>
          <p:cNvPr id="123" name="Google Shape;123;p15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62000" y="571500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DASHBOARD KIBANA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247650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Visibilité Opérationnelle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28860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Centralisation des alertes Suricata et des logs système pour une corrélation efficace.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14400" y="38766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52500" y="38766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Heatmap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Origine géographique des scans Nmap.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14400" y="41814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952500" y="41814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Timeline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Pics d'activité correspondant aux phases d'exploitation Red.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914400" y="47910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52500" y="47910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Alert Severity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Priorisation des incidents critiques.</a:t>
            </a:r>
            <a:endParaRPr/>
          </a:p>
        </p:txBody>
      </p:sp>
      <p:pic>
        <p:nvPicPr>
          <p:cNvPr id="19" name="Google Shape;148;p17" descr="image.png">
            <a:extLst>
              <a:ext uri="{FF2B5EF4-FFF2-40B4-BE49-F238E27FC236}">
                <a16:creationId xmlns:a16="http://schemas.microsoft.com/office/drawing/2014/main" id="{FDBF5E6E-1BCA-4FF9-B1D5-47D85FA28E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43486"/>
          <a:stretch/>
        </p:blipFill>
        <p:spPr>
          <a:xfrm>
            <a:off x="6343650" y="1200150"/>
            <a:ext cx="2976748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48;p17" descr="image.png">
            <a:extLst>
              <a:ext uri="{FF2B5EF4-FFF2-40B4-BE49-F238E27FC236}">
                <a16:creationId xmlns:a16="http://schemas.microsoft.com/office/drawing/2014/main" id="{86BDB143-81F9-42F4-AF28-0A0B111DB5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5478" t="59569" r="-1"/>
          <a:stretch/>
        </p:blipFill>
        <p:spPr>
          <a:xfrm>
            <a:off x="9320398" y="3571875"/>
            <a:ext cx="2345129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/>
        </p:nvSpPr>
        <p:spPr>
          <a:xfrm>
            <a:off x="3457015" y="2642371"/>
            <a:ext cx="5603858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 err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Démos</a:t>
            </a:r>
            <a:endParaRPr sz="7200" dirty="0"/>
          </a:p>
        </p:txBody>
      </p:sp>
      <p:sp>
        <p:nvSpPr>
          <p:cNvPr id="261" name="Google Shape;261;p24"/>
          <p:cNvSpPr txBox="1"/>
          <p:nvPr/>
        </p:nvSpPr>
        <p:spPr>
          <a:xfrm>
            <a:off x="3562350" y="2907059"/>
            <a:ext cx="50673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2" name="Google Shape;262;p24"/>
          <p:cNvSpPr txBox="1"/>
          <p:nvPr/>
        </p:nvSpPr>
        <p:spPr>
          <a:xfrm>
            <a:off x="4043361" y="4403365"/>
            <a:ext cx="15525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24"/>
          <p:cNvSpPr txBox="1"/>
          <p:nvPr/>
        </p:nvSpPr>
        <p:spPr>
          <a:xfrm>
            <a:off x="4043362" y="4697610"/>
            <a:ext cx="15525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5587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9337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19337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19337"/>
            <a:ext cx="3492549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794225" y="2843212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Patch Management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66775" y="33099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Mise à jour immédiate vers Joomla 4.2.8+, Tomcat 9.0.35+ et Postgres 10.3+.</a:t>
            </a:r>
            <a:endParaRPr/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26146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4572524" y="3262312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WAF &amp; Segmentation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4645074" y="37290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Déploiement d'un WAF pour filtrer les requêtes API et isolation des bases de données.</a:t>
            </a:r>
            <a:endParaRPr/>
          </a:p>
        </p:txBody>
      </p:sp>
      <p:pic>
        <p:nvPicPr>
          <p:cNvPr id="242" name="Google Shape;24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88549" y="26146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8350824" y="3262312"/>
            <a:ext cx="30470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Principe du Moindre Privilège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423374" y="40052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Désactivation du schéma public dans Postgres et restriction des permissions Tomcat.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DURCISSEMENT (HARDENING)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4945856" y="1904107"/>
            <a:ext cx="230028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809750" y="2970907"/>
            <a:ext cx="85725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L'exercice a démontré qu'une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visibilité totale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(ELK + IDS) est indispensable. Bien que le Red Team ait réussi certaines intrusions, la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rapidité de détection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permis de limiter l'impact sur les données CyberMed.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/>
        </p:nvSpPr>
        <p:spPr>
          <a:xfrm>
            <a:off x="3457015" y="2642371"/>
            <a:ext cx="5603858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Questions ?</a:t>
            </a:r>
            <a:endParaRPr sz="7200" dirty="0"/>
          </a:p>
        </p:txBody>
      </p:sp>
      <p:sp>
        <p:nvSpPr>
          <p:cNvPr id="261" name="Google Shape;261;p24"/>
          <p:cNvSpPr txBox="1"/>
          <p:nvPr/>
        </p:nvSpPr>
        <p:spPr>
          <a:xfrm>
            <a:off x="3562350" y="2907059"/>
            <a:ext cx="50673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2" name="Google Shape;262;p24"/>
          <p:cNvSpPr txBox="1"/>
          <p:nvPr/>
        </p:nvSpPr>
        <p:spPr>
          <a:xfrm>
            <a:off x="4043361" y="4403365"/>
            <a:ext cx="15525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24"/>
          <p:cNvSpPr txBox="1"/>
          <p:nvPr/>
        </p:nvSpPr>
        <p:spPr>
          <a:xfrm>
            <a:off x="4043362" y="4697610"/>
            <a:ext cx="15525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4360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364</Words>
  <Application>Microsoft Office PowerPoint</Application>
  <PresentationFormat>Grand écran</PresentationFormat>
  <Paragraphs>44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Calibri</vt:lpstr>
      <vt:lpstr>Urbanist</vt:lpstr>
      <vt:lpstr>Wingdings</vt:lpstr>
      <vt:lpstr>Arial</vt:lpstr>
      <vt:lpstr>Azeret Mono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WORKYTECH</dc:creator>
  <cp:lastModifiedBy>Ibrahim BOURAIMA</cp:lastModifiedBy>
  <cp:revision>10</cp:revision>
  <dcterms:modified xsi:type="dcterms:W3CDTF">2026-06-12T08:07:01Z</dcterms:modified>
</cp:coreProperties>
</file>